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Inter"/>
      <ns0:bold ns1:id="rIdFont18"/>
      <ns0:italic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5721aecf-a528-4de1-aa60-c5f52f57c789.fntdata" /><ns0:Relationship Id="rIdFont19" Type="http://schemas.openxmlformats.org/officeDocument/2006/relationships/font" Target="fonts/3e235c6e-d9e0-4e7f-b36f-45b0d580c171.fntdata" /><ns0:Relationship Id="rIdFont20" Type="http://schemas.openxmlformats.org/officeDocument/2006/relationships/font" Target="fonts/721b4954-86b1-4b6f-b5f8-be12cc455da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10250"/>
            <a:ext cx="10972800" cy="514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33400"/>
            <a:ext cx="4743450" cy="400050"/>
          </a:xfrm>
          <a:prstGeom prst="roundRect">
            <a:avLst>
              <a:gd name="adj" fmla="val 28571"/>
            </a:avLst>
          </a:prstGeom>
          <a:solidFill>
            <a:srgbClr val="323029"/>
          </a:solidFill>
          <a:ln w="9525">
            <a:solidFill>
              <a:srgbClr val="564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8102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62475" y="6010275"/>
            <a:ext cx="2209800" cy="314325"/>
          </a:xfrm>
          <a:prstGeom prst="roundRect">
            <a:avLst>
              <a:gd name="adj" fmla="val 24242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657225"/>
            <a:ext cx="1905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493764"/>
            <a:ext cx="9101137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FFFFFF"/>
                </a:solidFill>
                <a:latin typeface="Inter"/>
              </a:rPr>
              <a:t>PANDUAN TUTORIAL LENGKAP</a:t>
            </a:r>
            <a:r>
              <a:t>
</a:t>
            </a:r>
            <a:r>
              <a:rPr b="1" sz="3600" i="0" u="none">
                <a:solidFill>
                  <a:srgbClr val="FBBF24"/>
                </a:solidFill>
                <a:latin typeface="Inter"/>
              </a:rPr>
              <a:t>APLIKASI SIP-PKH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735585"/>
            <a:ext cx="7715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Panduan operasional dari awal akses, instalasi PWA di HP, pendaftaran akun, hingga pengelolaan seluruh fitur laporan bagi Pendamping Sosial dan Ketua Kelompok.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4875" y="6086475"/>
            <a:ext cx="2000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FBBF24"/>
                </a:solidFill>
                <a:latin typeface="Inter"/>
              </a:rPr>
              <a:t>BSI: 7211585298 (a.n. Encep Yuyus)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638175"/>
            <a:ext cx="5167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Sistem Informasi Pelaksanaan Program Keluarga Harapan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24562"/>
            <a:ext cx="4941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BD5E1"/>
                </a:solidFill>
                <a:latin typeface="Inter"/>
              </a:rPr>
              <a:t>Dikembangkan oleh: Encep Yuyus Syamsul Firdaus, S.Sos.I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176962"/>
            <a:ext cx="4941093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"/>
              </a:rPr>
              <a:t>ASN PPPK KEMENSOS - Penata Layanan Operasional / Pendamping Sosial PKH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0175"/>
            <a:ext cx="3479750" cy="4514850"/>
          </a:xfrm>
          <a:prstGeom prst="roundRect">
            <a:avLst>
              <a:gd name="adj" fmla="val 43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1400175"/>
            <a:ext cx="3479750" cy="4514850"/>
          </a:xfrm>
          <a:prstGeom prst="roundRect">
            <a:avLst>
              <a:gd name="adj" fmla="val 43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1400175"/>
            <a:ext cx="3479750" cy="4514850"/>
          </a:xfrm>
          <a:prstGeom prst="roundRect">
            <a:avLst>
              <a:gd name="adj" fmla="val 43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788146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75" y="289470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8725" y="289470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" y="2921496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5625" y="3028057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2075" y="3028057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Pengantar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181725"/>
            <a:ext cx="115824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Slide 2 dari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620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Tentang &amp; Urgensi SIP-PKH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397746"/>
            <a:ext cx="38420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Transparansi &amp; Akurasi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673971"/>
            <a:ext cx="3022550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Mendigitalisasi pelaporan kelompok PKH secara menyeluruh, memastikan validitas NIK 16 digit, komponen bantuan, serta pencatatan komitmen secara akurat.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275" y="3504307"/>
            <a:ext cx="38420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Sinkronisasi 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275" y="3780532"/>
            <a:ext cx="302255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Data yang diinput oleh Ketua Kelompok melalui HP langsung masuk dan tersinkronisasi ke Dashboard Pendamping tanpa jeda waktu.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8725" y="3504307"/>
            <a:ext cx="381327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Cetak Dokumen 1 Lembar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8725" y="3780532"/>
            <a:ext cx="302255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Fitur rekapitulasi otomatis menghasilkan dokumen resmi berstandar kop surat instansi yang pas dicetak dalam satu halaman A4.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21781"/>
            <a:ext cx="3505200" cy="1671637"/>
          </a:xfrm>
          <a:prstGeom prst="roundRect">
            <a:avLst>
              <a:gd name="adj" fmla="val 91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21781"/>
            <a:ext cx="3505200" cy="1671637"/>
          </a:xfrm>
          <a:prstGeom prst="roundRect">
            <a:avLst>
              <a:gd name="adj" fmla="val 91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21781"/>
            <a:ext cx="3505200" cy="1671637"/>
          </a:xfrm>
          <a:prstGeom prst="roundRect">
            <a:avLst>
              <a:gd name="adj" fmla="val 91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Langkah Awal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181725"/>
            <a:ext cx="115824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Slide 3 dari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Akses Tautan &amp; Install Aplikasi di 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059906"/>
            <a:ext cx="37861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450431"/>
            <a:ext cx="397549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Buka Tautan Resmi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698081"/>
            <a:ext cx="312420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Buka browser HP (Chrome / Safari) lalu klik atau tempel tautan aplikasi GitHub Pages SIP-PKH yang dibagikan oleh Pendamping.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059906"/>
            <a:ext cx="37861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450431"/>
            <a:ext cx="397549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Tambahkan ke Layar Utama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698081"/>
            <a:ext cx="312420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Ketuk menu titik tiga di pojok kanan atas browser (Chrome Android) atau ikon Share (Safari iOS), lalu pilih </a:t>
            </a:r>
            <a:r>
              <a:rPr b="1" sz="975" i="0" u="none">
                <a:solidFill>
                  <a:srgbClr val="475569"/>
                </a:solidFill>
                <a:latin typeface="Inter"/>
              </a:rPr>
              <a:t>"Tambahkan ke Layar Utama"</a:t>
            </a:r>
            <a:r>
              <a:rPr b="0" sz="975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059906"/>
            <a:ext cx="37861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450431"/>
            <a:ext cx="38766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Aplikasi Siap Digunakan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5325" y="3698081"/>
            <a:ext cx="312420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Ikon khusus </a:t>
            </a:r>
            <a:r>
              <a:rPr b="1" sz="975" i="0" u="none">
                <a:solidFill>
                  <a:srgbClr val="475569"/>
                </a:solidFill>
                <a:latin typeface="Inter"/>
              </a:rPr>
              <a:t>SIP-PKH</a:t>
            </a:r>
            <a:r>
              <a:rPr b="0" sz="975" i="0" u="none">
                <a:solidFill>
                  <a:srgbClr val="475569"/>
                </a:solidFill>
                <a:latin typeface="Inter"/>
              </a:rPr>
              <a:t> akan muncul di layar HP Anda, memberikan kemudahan akses cepat sekali ketuk tanpa perlu mengunduh dari PlayStore.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0175"/>
            <a:ext cx="5334000" cy="4514850"/>
          </a:xfrm>
          <a:prstGeom prst="roundRect">
            <a:avLst>
              <a:gd name="adj" fmla="val 33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400175"/>
            <a:ext cx="5334000" cy="4514850"/>
          </a:xfrm>
          <a:prstGeom prst="roundRect">
            <a:avLst>
              <a:gd name="adj" fmla="val 33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5775" y="2394495"/>
            <a:ext cx="1074687" cy="1905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676400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1676400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1771650"/>
            <a:ext cx="1905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1771650"/>
            <a:ext cx="1905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Autentikasi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181725"/>
            <a:ext cx="115824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Slide 4 dari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620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Panduan Masuk &amp; Pendaftaran Akun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3025" y="1747837"/>
            <a:ext cx="22752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Akses Masuk (Login)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2173605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2171700"/>
            <a:ext cx="5762625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Pilih peran: 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Pendamping PKH (Admin)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atau 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Ketua Kelompok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2386875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275" y="2384970"/>
            <a:ext cx="47053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Masukkan Identitas (Nama atau NIP untuk pendamping; Nama atau No. HP untuk ketua).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075" y="2813417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275" y="2811512"/>
            <a:ext cx="5762625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Masukkan PIN Keamanan 6 angka yang telah terdaftar.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1825" y="1747837"/>
            <a:ext cx="256282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Pendaftaran Ketua Baru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9875" y="2173605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075" y="2171700"/>
            <a:ext cx="47053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Gunakan tautan undangan resmi dari Pendamping (atau masukkan Kode Undangan unik, misal: 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9875" y="2600146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6075" y="2598241"/>
            <a:ext cx="47053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Isi Nama Lengkap Ketua, No. WhatsApp, Nama Kelompok, dan buat PIN Akses.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9875" y="3026687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6075" y="3024782"/>
            <a:ext cx="5495925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Akun otomatis berstatus </a:t>
            </a:r>
            <a:r>
              <a:rPr b="0" sz="1050" i="1" u="none">
                <a:solidFill>
                  <a:srgbClr val="475569"/>
                </a:solidFill>
                <a:latin typeface="Inter"/>
              </a:rPr>
              <a:t>Pending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hingga disetujui Pendamping.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2925" y="2413545"/>
            <a:ext cx="12461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monospace"/>
              </a:rPr>
              <a:t>PKH-SUKAMAJU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62075"/>
            <a:ext cx="3505200" cy="45910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362075"/>
            <a:ext cx="3505200" cy="45910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362075"/>
            <a:ext cx="3505200" cy="45910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Inter"/>
              </a:rPr>
              <a:t>Dashboard Ketua Kelompok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181725"/>
            <a:ext cx="115824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Slide 5 dari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Manajemen Anggota KPM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1600200"/>
            <a:ext cx="397549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1. Input Data KPM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1866900"/>
            <a:ext cx="312420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Masukkan Nama Lengkap Kepala Rumah Tangga/KPM beserta alamat lengkap kelompok binaan.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1600200"/>
            <a:ext cx="397549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2. Validasi NIK 16 Digit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1866900"/>
            <a:ext cx="312420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Sistem secara otomatis membatasi dan memvalidasi NIK KPM tepat 16 digit angka sesuai standar Dukcapil.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5325" y="1600200"/>
            <a:ext cx="38766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3. Komponen Bantuan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5325" y="1866900"/>
            <a:ext cx="312420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Pilih jenis bantuan (PKH/BPNT) dan centang komponen spesifik (Balita, Anak SD/SMP/SMA, Ibu Hamil, Lansia, Disabilitas).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0175"/>
            <a:ext cx="5334000" cy="4514850"/>
          </a:xfrm>
          <a:prstGeom prst="roundRect">
            <a:avLst>
              <a:gd name="adj" fmla="val 33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400175"/>
            <a:ext cx="5334000" cy="4514850"/>
          </a:xfrm>
          <a:prstGeom prst="roundRect">
            <a:avLst>
              <a:gd name="adj" fmla="val 33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Inter"/>
              </a:rPr>
              <a:t>Pelaporan Ketua Kelompok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181725"/>
            <a:ext cx="115824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Slide 6 dari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620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Presensi P2K2 &amp; Laporan Komitmen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1676400"/>
            <a:ext cx="62757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Presensi Kehadiran P2K2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1676400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Pemenuhan Komitmen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199263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1990725"/>
            <a:ext cx="47053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Pilih KPM dan Modul P2K2 (Kesehatan &amp; Gizi, Pengelolaan Keuangan, Pengasuhan Anak, dll.).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075" y="241917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2417266"/>
            <a:ext cx="5762625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Tentukan status kehadiran (Hadir, Sakit, Izin, Alpa).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2632442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2630537"/>
            <a:ext cx="47053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Unggah foto bukti kegiatan (bisa langsung tangkap via kamera HP atau pilih file dari memori).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9875" y="1992630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6075" y="1990725"/>
            <a:ext cx="4705350" cy="42654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Form komitmen muncul dinamis sesuai komponen bantuan KPM yang dipilih.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9875" y="2419171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6075" y="2417266"/>
            <a:ext cx="5495925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Unggah bukti layanan kesehatan/pendidikan.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9875" y="2632442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6075" y="2630537"/>
            <a:ext cx="5495925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Laporan berstatus 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Pending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sampai diverifikasi oleh Pendamping.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90961"/>
            <a:ext cx="5334000" cy="1933128"/>
          </a:xfrm>
          <a:prstGeom prst="roundRect">
            <a:avLst>
              <a:gd name="adj" fmla="val 78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28019"/>
            <a:ext cx="5334000" cy="1859012"/>
          </a:xfrm>
          <a:prstGeom prst="roundRect">
            <a:avLst>
              <a:gd name="adj" fmla="val 8197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5" y="3023294"/>
            <a:ext cx="200025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5334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Inter"/>
              </a:rPr>
              <a:t>Keuangan &amp; Pencairan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181725"/>
            <a:ext cx="115824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Slide 7 dari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Rekonsiliasi Pencairan Bansos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2967186"/>
            <a:ext cx="62757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Langkah Input Rekonsiliasi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394769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65F46"/>
                </a:solidFill>
                <a:latin typeface="Inter"/>
              </a:rPr>
              <a:t>Sinkronisasi Lintas Perangkat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670994"/>
            <a:ext cx="48768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047857"/>
                </a:solidFill>
                <a:latin typeface="Inter"/>
              </a:rPr>
              <a:t>Semua data rekonsiliasi dan laporan yang dikirim ketua kelompok melalui HP akan otomatis tersimpan aman dan langsung tampil di laptop pendamping secara real-time.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283416"/>
            <a:ext cx="952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3281511"/>
            <a:ext cx="5762625" cy="21327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Pilih Nama KPM penerima bantuan.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3496687"/>
            <a:ext cx="1238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3494782"/>
            <a:ext cx="5762625" cy="21327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Pilih Tahap Pencairan (Tahap 1 hingga Tahap 4).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3709957"/>
            <a:ext cx="1238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275" y="3708052"/>
            <a:ext cx="5762625" cy="213270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Masukkan Nominal Bantuan secara akurat dalam Rupiah.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" y="3923228"/>
            <a:ext cx="1238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275" y="3921323"/>
            <a:ext cx="4705350" cy="426541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Unggah foto struk ATM / kartu KKS (mendukung kamera langsung maupun galeri HP).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62075"/>
            <a:ext cx="3505200" cy="45910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362075"/>
            <a:ext cx="3505200" cy="45910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362075"/>
            <a:ext cx="3505200" cy="45910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Dashboard Pendamping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181725"/>
            <a:ext cx="115824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Slide 8 dari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Kontrol Admin &amp; Verifikasi Ketua Kelompok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1600200"/>
            <a:ext cx="397549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Verifikasi Pendaftaran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1866900"/>
            <a:ext cx="312420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Melihat antrean ketua kelompok yang mendaftar dan menyetujui akun agar dapat mulai menginput laporan.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1600200"/>
            <a:ext cx="397549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Reset PIN &amp; Manajemen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1866900"/>
            <a:ext cx="31242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Pendamping dapat melakukan reset PIN ketua kelompok, menghapus akun kelompok, atau mengubah nama kelompok &amp; No. WhatsApp secara langsung.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5325" y="1600200"/>
            <a:ext cx="38766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Bagikan Tautan Undangan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5325" y="1866900"/>
            <a:ext cx="312420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Salin tautan pendaftaran atau bagikan langsung via WhatsApp untuk memudahkan ketua kelompok bergabung.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0175"/>
            <a:ext cx="5334000" cy="4514850"/>
          </a:xfrm>
          <a:prstGeom prst="roundRect">
            <a:avLst>
              <a:gd name="adj" fmla="val 33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400175"/>
            <a:ext cx="5334000" cy="4514850"/>
          </a:xfrm>
          <a:prstGeom prst="roundRect">
            <a:avLst>
              <a:gd name="adj" fmla="val 33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Validasi &amp; Kop Surat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181725"/>
            <a:ext cx="115824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Slide 9 dari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620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Verifikasi Laporan &amp; Pengaturan Kop Dokumen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1676400"/>
            <a:ext cx="62757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Persetujuan Laporan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1990725"/>
            <a:ext cx="48768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Gunakan filter kelompok, jenis laporan, dan bulan. Klik tombol 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Setuju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atau 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Tolak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untuk memvalidasi presensi P2K2, komitmen, maupun rekonsiliasi.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1676400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Edit Kop / Header Laporan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1990725"/>
            <a:ext cx="48768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Sesuaikan baris Kementerian, Direktorat, dan alamat kantor. Dilengkapi fitur 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drag-and-drop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atau upload file gambar logo resmi instansi untuk kop surat cetak.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62075"/>
            <a:ext cx="3505200" cy="45910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362075"/>
            <a:ext cx="3505200" cy="45910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362075"/>
            <a:ext cx="3505200" cy="459105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068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Dokumen Resmi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181725"/>
            <a:ext cx="115824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Inter"/>
              </a:rPr>
              <a:t>Slide 10 dari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Pratinjau &amp; Cetak Laporan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1600200"/>
            <a:ext cx="397549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1. Pilih Jenis Rekapitulasi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1866900"/>
            <a:ext cx="31242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Pilih rekapitulasi Presensi P2K2, Komitmen, atau Rekonsiliasi Pencairan sesuai kebutuhan.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1600200"/>
            <a:ext cx="397549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2. Format 1 Lembar (A4)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1866900"/>
            <a:ext cx="312420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Pengaturan CSS cetak khusus memastikan tabel tersusun rapi, bersih tanpa tombol, dan pas dalam 1 halaman.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5325" y="1600200"/>
            <a:ext cx="38766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3. Cetak / Simpan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5325" y="1866900"/>
            <a:ext cx="312420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Klik tombol Cetak untuk memunculkan dialog sistem, siap dicetak fisik maupun disimpan sebagai dokumen PDF resmi.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948112" y="4161383"/>
            <a:ext cx="4295775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48112" y="4161383"/>
            <a:ext cx="42957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144017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2372617"/>
            <a:ext cx="13335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07951" y="2944117"/>
            <a:ext cx="8776096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FFFFFF"/>
                </a:solidFill>
                <a:latin typeface="Inter"/>
              </a:rPr>
              <a:t>Terima Kasih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16906" y="3582292"/>
            <a:ext cx="8358187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1" u="none">
                <a:solidFill>
                  <a:srgbClr val="94A3B8"/>
                </a:solidFill>
                <a:latin typeface="Inter"/>
              </a:rPr>
              <a:t>"Digitalisasi PKH untuk Layanan Sosial yang Lebih Transparan, Cepat, dan Akurat."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1140" y="4399508"/>
            <a:ext cx="53697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CBD5E1"/>
                </a:solidFill>
                <a:latin typeface="Inter"/>
              </a:rPr>
              <a:t>Encep Yuyus Syamsul Firdaus, S.Sos.I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1140" y="4561433"/>
            <a:ext cx="536971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ASN PPPK KEMENSOS - Penata Layanan Operasional / Pendamping Sosial PKH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